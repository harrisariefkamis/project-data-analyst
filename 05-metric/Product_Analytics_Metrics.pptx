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Cohort A</c:v>
                </c:pt>
              </c:strCache>
            </c:strRef>
          </c:tx>
          <c:spPr>
            <a:solidFill>
              <a:srgbClr val="277884"/>
            </a:solidFill>
            <a:ln w="25400" cap="flat">
              <a:solidFill>
                <a:srgbClr val="27788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77884"/>
              </a:solidFill>
              <a:ln w="9525" cap="flat">
                <a:solidFill>
                  <a:srgbClr val="27788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D1</c:v>
                  </c:pt>
                  <c:pt idx="1">
                    <c:v>D3</c:v>
                  </c:pt>
                  <c:pt idx="2">
                    <c:v>D7</c:v>
                  </c:pt>
                  <c:pt idx="3">
                    <c:v>D14</c:v>
                  </c:pt>
                  <c:pt idx="4">
                    <c:v>D30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45</c:v>
                </c:pt>
                <c:pt idx="2">
                  <c:v>16</c:v>
                </c:pt>
                <c:pt idx="3">
                  <c:v>12</c:v>
                </c:pt>
                <c:pt idx="4">
                  <c:v>10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Cohort B</c:v>
                </c:pt>
              </c:strCache>
            </c:strRef>
          </c:tx>
          <c:spPr>
            <a:solidFill>
              <a:srgbClr val="5EA8A7"/>
            </a:solidFill>
            <a:ln w="25400" cap="flat">
              <a:solidFill>
                <a:srgbClr val="5EA8A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EA8A7"/>
              </a:solidFill>
              <a:ln w="9525" cap="flat">
                <a:solidFill>
                  <a:srgbClr val="5EA8A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D1</c:v>
                  </c:pt>
                  <c:pt idx="1">
                    <c:v>D3</c:v>
                  </c:pt>
                  <c:pt idx="2">
                    <c:v>D7</c:v>
                  </c:pt>
                  <c:pt idx="3">
                    <c:v>D14</c:v>
                  </c:pt>
                  <c:pt idx="4">
                    <c:v>D30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52</c:v>
                </c:pt>
                <c:pt idx="2">
                  <c:v>22</c:v>
                </c:pt>
                <c:pt idx="3">
                  <c:v>18</c:v>
                </c:pt>
                <c:pt idx="4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Days Since Signup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Retention 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6669" y="1113532"/>
            <a:ext cx="8290661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&amp; Analytics Metrics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2812280" y="2478732"/>
            <a:ext cx="351944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1992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What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025676" y="3347442"/>
            <a:ext cx="31545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for Growth &amp; Retention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7950" y="4568875"/>
            <a:ext cx="38266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Date: 2026-10-27 | Prepared for Product &amp; Analytics Teams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50" y="999976"/>
            <a:ext cx="8128099" cy="0"/>
          </a:xfrm>
          <a:prstGeom prst="line">
            <a:avLst/>
          </a:prstGeom>
          <a:noFill/>
          <a:ln w="19050">
            <a:solidFill>
              <a:srgbClr val="27788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507950"/>
            <a:ext cx="829066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Vanity vs. Actionable Metrics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161901"/>
            <a:ext cx="3873550" cy="2552849"/>
          </a:xfrm>
          <a:prstGeom prst="roundRect">
            <a:avLst>
              <a:gd name="adj" fmla="val 3980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07950" y="1190476"/>
            <a:ext cx="3873550" cy="0"/>
          </a:xfrm>
          <a:prstGeom prst="line">
            <a:avLst/>
          </a:prstGeom>
          <a:noFill/>
          <a:ln w="57150">
            <a:solidFill>
              <a:srgbClr val="94A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76738" y="1161901"/>
            <a:ext cx="0" cy="2552849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7950" y="3709988"/>
            <a:ext cx="387355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713" y="1161901"/>
            <a:ext cx="0" cy="2552849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7975" y="1409551"/>
            <a:ext cx="35429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94"/>
              </a:spcAft>
              <a:buNone/>
            </a:pPr>
            <a:r>
              <a:rPr lang="en-US" sz="1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Vanity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07975" y="1865858"/>
            <a:ext cx="3542970" cy="99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Registered Users</a:t>
            </a:r>
            <a:pPr algn="l" indent="0" marL="0">
              <a:lnSpc>
                <a:spcPts val="195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(Cumulative). Terlihat bagus di atas kertas, tapi tidak menunjukkan kesehatan produk yang sesungguhnya.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62500" y="1161901"/>
            <a:ext cx="3873550" cy="2552849"/>
          </a:xfrm>
          <a:prstGeom prst="roundRect">
            <a:avLst>
              <a:gd name="adj" fmla="val 3980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762500" y="1190476"/>
            <a:ext cx="3873550" cy="0"/>
          </a:xfrm>
          <a:prstGeom prst="line">
            <a:avLst/>
          </a:prstGeom>
          <a:noFill/>
          <a:ln w="57150">
            <a:solidFill>
              <a:srgbClr val="27788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31287" y="1161901"/>
            <a:ext cx="0" cy="2552849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62500" y="3709988"/>
            <a:ext cx="387355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67262" y="1161901"/>
            <a:ext cx="0" cy="2552849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62525" y="1409551"/>
            <a:ext cx="35429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94"/>
              </a:spcAft>
              <a:buNone/>
            </a:pPr>
            <a:r>
              <a:rPr lang="en-US" sz="1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962525" y="1865858"/>
            <a:ext cx="3542970" cy="74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DAU</a:t>
            </a:r>
            <a:pPr algn="l" indent="0" marL="0">
              <a:lnSpc>
                <a:spcPts val="195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(Daily Active Users). Menunjukkan realitas keterikatan pengguna dan utilitas harian produk.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7950" y="3867150"/>
            <a:ext cx="8128099" cy="666750"/>
          </a:xfrm>
          <a:prstGeom prst="roundRect">
            <a:avLst>
              <a:gd name="adj" fmla="val 15238"/>
            </a:avLst>
          </a:prstGeom>
          <a:solidFill>
            <a:srgbClr val="E6F3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60350" y="4019550"/>
            <a:ext cx="797976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Insight:</a:t>
            </a:r>
            <a:pPr algn="l" indent="0" marL="0">
              <a:buNone/>
            </a:pPr>
            <a:r>
              <a:rPr lang="en-US" sz="12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Jangan tertipu lonjakan registrasi jika DAU stagnan. Perbaiki </a:t>
            </a:r>
            <a:pPr algn="l" indent="0" marL="0">
              <a:buNone/>
            </a:pPr>
            <a:r>
              <a:rPr lang="en-US" sz="1200" i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</a:t>
            </a:r>
            <a:pPr algn="l" indent="0" marL="0">
              <a:buNone/>
            </a:pPr>
            <a:r>
              <a:rPr lang="en-US" sz="12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bukan sekadar </a:t>
            </a:r>
            <a:pPr algn="l" indent="0" marL="0">
              <a:buNone/>
            </a:pPr>
            <a:r>
              <a:rPr lang="en-US" sz="1200" i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</a:t>
            </a:r>
            <a:pPr algn="l" indent="0" marL="0">
              <a:buNone/>
            </a:pPr>
            <a:r>
              <a:rPr lang="en-US" sz="12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50" y="1063526"/>
            <a:ext cx="8128099" cy="0"/>
          </a:xfrm>
          <a:prstGeom prst="line">
            <a:avLst/>
          </a:prstGeom>
          <a:noFill/>
          <a:ln w="19050">
            <a:solidFill>
              <a:srgbClr val="27788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507950"/>
            <a:ext cx="829066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AARRR Funnel Performance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43149" y="1435298"/>
            <a:ext cx="6857702" cy="507950"/>
          </a:xfrm>
          <a:prstGeom prst="roundRect">
            <a:avLst>
              <a:gd name="adj" fmla="val 10001"/>
            </a:avLst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397050" y="1589187"/>
            <a:ext cx="11411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778050" y="2044750"/>
            <a:ext cx="5587752" cy="507950"/>
          </a:xfrm>
          <a:prstGeom prst="roundRect">
            <a:avLst>
              <a:gd name="adj" fmla="val 10001"/>
            </a:avLst>
          </a:prstGeom>
          <a:solidFill>
            <a:srgbClr val="348E9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031950" y="2198638"/>
            <a:ext cx="10394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413099" y="2654201"/>
            <a:ext cx="4317802" cy="507950"/>
          </a:xfrm>
          <a:prstGeom prst="roundRect">
            <a:avLst>
              <a:gd name="adj" fmla="val 10001"/>
            </a:avLst>
          </a:prstGeom>
          <a:solidFill>
            <a:srgbClr val="41A4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667000" y="2808089"/>
            <a:ext cx="10035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48149" y="3263652"/>
            <a:ext cx="3047702" cy="507950"/>
          </a:xfrm>
          <a:prstGeom prst="roundRect">
            <a:avLst>
              <a:gd name="adj" fmla="val 10001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02050" y="3417540"/>
            <a:ext cx="8847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31763" y="4133850"/>
            <a:ext cx="0" cy="400050"/>
          </a:xfrm>
          <a:prstGeom prst="line">
            <a:avLst/>
          </a:prstGeom>
          <a:noFill/>
          <a:ln w="47625">
            <a:solidFill>
              <a:srgbClr val="FE44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6075" y="4133850"/>
            <a:ext cx="804777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Opportunity:</a:t>
            </a:r>
            <a:pPr algn="l"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Ada drop-off 45% antara Signup ke Activation. Fokus utama harus pada perbaikan </a:t>
            </a:r>
            <a:pPr algn="l" indent="0" marL="0">
              <a:buNone/>
            </a:pPr>
            <a:r>
              <a:rPr lang="en-US" sz="14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</a:t>
            </a:r>
            <a:pPr algn="l"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50" y="1063526"/>
            <a:ext cx="8128099" cy="0"/>
          </a:xfrm>
          <a:prstGeom prst="line">
            <a:avLst/>
          </a:prstGeom>
          <a:noFill/>
          <a:ln w="19050">
            <a:solidFill>
              <a:srgbClr val="27788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507950"/>
            <a:ext cx="829066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"Leaky Bucket" (Retention)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574750"/>
            <a:ext cx="315298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1993850"/>
            <a:ext cx="3091160" cy="132710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Point:</a:t>
            </a:r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Drop-off terbesar terjadi antara Hari ke-3 dan Hari ke-7.</a:t>
            </a:r>
            <a:endParaRPr lang="en-US" sz="1400" dirty="0"/>
          </a:p>
          <a:p>
            <a:pPr algn="l" marL="127000" indent="-1270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Star:</a:t>
            </a:r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D7 Retention adalah prediktor terbaik untuk LTV.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7950" y="3486001"/>
            <a:ext cx="3091160" cy="634901"/>
          </a:xfrm>
          <a:prstGeom prst="roundRect">
            <a:avLst>
              <a:gd name="adj" fmla="val 8001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3486001"/>
            <a:ext cx="3152983" cy="634901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</a:t>
            </a:r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Tingkatkan </a:t>
            </a:r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i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stickiness</a:t>
            </a:r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sebelum hari ke-3 berakhir.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980111" y="1333351"/>
          <a:ext cx="4655939" cy="3194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50" y="1063526"/>
            <a:ext cx="8128099" cy="0"/>
          </a:xfrm>
          <a:prstGeom prst="line">
            <a:avLst/>
          </a:prstGeom>
          <a:noFill/>
          <a:ln w="19050">
            <a:solidFill>
              <a:srgbClr val="27788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507950"/>
            <a:ext cx="829066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Optimization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3818037"/>
            <a:ext cx="8128099" cy="715863"/>
          </a:xfrm>
          <a:prstGeom prst="roundRect">
            <a:avLst>
              <a:gd name="adj" fmla="val 14193"/>
            </a:avLst>
          </a:prstGeom>
          <a:solidFill>
            <a:srgbClr val="E6F3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6525" y="3818037"/>
            <a:ext cx="0" cy="715863"/>
          </a:xfrm>
          <a:prstGeom prst="line">
            <a:avLst/>
          </a:prstGeom>
          <a:noFill/>
          <a:ln w="57150">
            <a:solidFill>
              <a:srgbClr val="2778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9001" y="3944987"/>
            <a:ext cx="7714411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Strategi:</a:t>
            </a:r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Pindahkan budget dari </a:t>
            </a:r>
            <a:pPr algn="l" indent="0" marL="0">
              <a:lnSpc>
                <a:spcPts val="1820"/>
              </a:lnSpc>
              <a:buNone/>
            </a:pPr>
            <a:r>
              <a:rPr lang="en-US" sz="13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</a:t>
            </a:r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ke </a:t>
            </a:r>
            <a:pPr algn="l" indent="0" marL="0">
              <a:lnSpc>
                <a:spcPts val="1820"/>
              </a:lnSpc>
              <a:buNone/>
            </a:pPr>
            <a:r>
              <a:rPr lang="en-US" sz="13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Programs</a:t>
            </a:r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atau </a:t>
            </a:r>
            <a:pPr algn="l" indent="0" marL="0">
              <a:lnSpc>
                <a:spcPts val="1820"/>
              </a:lnSpc>
              <a:buNone/>
            </a:pPr>
            <a:r>
              <a:rPr lang="en-US" sz="13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Organic SEO</a:t>
            </a:r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CAC per retained user di Paid saat ini tidak berkelanjutan secara unit ekonomi.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950" y="1326952"/>
          <a:ext cx="8128099" cy="2300585"/>
        </p:xfrm>
        <a:graphic>
          <a:graphicData uri="http://schemas.openxmlformats.org/drawingml/2006/table">
            <a:tbl>
              <a:tblPr/>
              <a:tblGrid>
                <a:gridCol w="2032025"/>
                <a:gridCol w="2032025"/>
                <a:gridCol w="2032025"/>
                <a:gridCol w="2032025"/>
              </a:tblGrid>
              <a:tr h="57514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Channel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88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Ret. D7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88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Conv 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88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Quality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884"/>
                    </a:solidFill>
                  </a:tcPr>
                </a:tc>
              </a:tr>
              <a:tr h="57514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Referral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30.9%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11.6%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High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514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Organic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18.1%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7.0%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514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Paid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7.4%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3.2%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Low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50" y="1063526"/>
            <a:ext cx="8128099" cy="0"/>
          </a:xfrm>
          <a:prstGeom prst="line">
            <a:avLst/>
          </a:prstGeom>
          <a:noFill/>
          <a:ln w="19050">
            <a:solidFill>
              <a:srgbClr val="5EA8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507950"/>
            <a:ext cx="829066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585764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7757" y="1657201"/>
            <a:ext cx="14421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2851" y="1657201"/>
            <a:ext cx="70006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Implementasi monitoring </a:t>
            </a:r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D7 Retention</a:t>
            </a:r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sebagai North Star Metric.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7950" y="2420689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27757" y="2492127"/>
            <a:ext cx="14421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2851" y="2492127"/>
            <a:ext cx="613488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lubang aktivasi menggunakan </a:t>
            </a:r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conversion_rate.sql</a:t>
            </a:r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7950" y="3255615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7757" y="3327053"/>
            <a:ext cx="14421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2851" y="3327053"/>
            <a:ext cx="63940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Optimalkan program referral untuk akuisisi berkualitas tinggi.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26669" y="4276279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 kita bangun produk yang lebih sehat!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 &amp; Analytics Metrics</dc:title>
  <dc:subject>PptxGenJS Presentation</dc:subject>
  <dc:creator>Accio Analytics Agent</dc:creator>
  <cp:lastModifiedBy>Accio Analytics Agent</cp:lastModifiedBy>
  <cp:revision>1</cp:revision>
  <dcterms:created xsi:type="dcterms:W3CDTF">2026-10-27T06:28:33Z</dcterms:created>
  <dcterms:modified xsi:type="dcterms:W3CDTF">2026-10-27T06:28:33Z</dcterms:modified>
</cp:coreProperties>
</file>